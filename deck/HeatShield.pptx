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HeatShield turns a citywide heatwave alert into a ward-level action plan. Built for the AI for Climate Change theme at PCCOE IGC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slide. Six sections, one argument: map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the Ahmedabad 2013 HAP: it proved city-scale heat action saves lives, and the NDMA scaled it to 23 states. The unsolved part is intra-city targeting.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goals map one-to-one onto the four modules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diagram left to right: two data sources merge into one risk surface, which feeds three consumers. The optimizer is the piece comparable projects do not attempt.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judge asks “this exists already” — yes, the map does. The placement decision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bar chart is schematic and labelled as illustrative. The real figure is produced live by the optimizer for whichever city and day is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one-liner. Invite questions on the optimizer — that is the strongest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234440"/>
            <a:ext cx="2834640" cy="786384"/>
          </a:xfrm>
          <a:prstGeom prst="rect">
            <a:avLst/>
          </a:prstGeom>
          <a:solidFill>
            <a:srgbClr val="FBE38E"/>
          </a:solidFill>
          <a:ln w="12700">
            <a:solidFill>
              <a:srgbClr val="FBE3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2075688"/>
            <a:ext cx="2834640" cy="786384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2916936"/>
            <a:ext cx="2834640" cy="786384"/>
          </a:xfrm>
          <a:prstGeom prst="rect">
            <a:avLst/>
          </a:prstGeom>
          <a:solidFill>
            <a:srgbClr val="E8823C"/>
          </a:solidFill>
          <a:ln w="12700">
            <a:solidFill>
              <a:srgbClr val="E882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3758184"/>
            <a:ext cx="2834640" cy="786384"/>
          </a:xfrm>
          <a:prstGeom prst="rect">
            <a:avLst/>
          </a:prstGeom>
          <a:solidFill>
            <a:srgbClr val="D1462F"/>
          </a:solidFill>
          <a:ln w="12700">
            <a:solidFill>
              <a:srgbClr val="D146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4599432"/>
            <a:ext cx="2834640" cy="786384"/>
          </a:xfrm>
          <a:prstGeom prst="rect">
            <a:avLst/>
          </a:prstGeom>
          <a:solidFill>
            <a:srgbClr val="8C1D18"/>
          </a:solidFill>
          <a:ln w="12700">
            <a:solidFill>
              <a:srgbClr val="8C1D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18120" y="1234440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4599432"/>
            <a:ext cx="822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85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PCCOE International Grand Challenge 2026  ·  Pune, India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0241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AI for Climate Change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2880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HeatShield</a:t>
            </a:r>
            <a:endParaRPr lang="en-US" sz="7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272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C1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heatwave alerts to hyperlocal action.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7498080" cy="0"/>
          </a:xfrm>
          <a:prstGeom prst="line">
            <a:avLst/>
          </a:prstGeom>
          <a:noFill/>
          <a:ln w="12700">
            <a:solidFill>
              <a:srgbClr val="E4E1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2062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5262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[TODO: Member 1] — UG, Branch, Institute, University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[TODO: Member 2] — UG, Branch, Institute, University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[TODO: Member 3] — UG, Branch, Institute, University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[TODO: Member 4] — UG, Branch, Institute,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536192"/>
            <a:ext cx="384048" cy="384048"/>
          </a:xfrm>
          <a:prstGeom prst="rect">
            <a:avLst/>
          </a:prstGeom>
          <a:solidFill>
            <a:srgbClr val="FBE38E"/>
          </a:solidFill>
          <a:ln w="12700">
            <a:solidFill>
              <a:srgbClr val="FBE3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630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/ Idea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7647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risk is hyperlocal; response is citywide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22576"/>
            <a:ext cx="384048" cy="384048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2494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5511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forecast, place relief, advise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solidFill>
            <a:srgbClr val="E8823C"/>
          </a:solidFill>
          <a:ln w="12700">
            <a:solidFill>
              <a:srgbClr val="E882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30358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/ Architecture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337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and the stack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95344"/>
            <a:ext cx="384048" cy="384048"/>
          </a:xfrm>
          <a:prstGeom prst="rect">
            <a:avLst/>
          </a:prstGeom>
          <a:solidFill>
            <a:srgbClr val="D1462F"/>
          </a:solidFill>
          <a:ln w="12700">
            <a:solidFill>
              <a:srgbClr val="D146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8221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Features / Innovation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1239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layer, not the map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81728"/>
            <a:ext cx="384048" cy="384048"/>
          </a:xfrm>
          <a:prstGeom prst="rect">
            <a:avLst/>
          </a:prstGeom>
          <a:solidFill>
            <a:srgbClr val="8C1D18"/>
          </a:solidFill>
          <a:ln w="12700">
            <a:solidFill>
              <a:srgbClr val="8C1D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6085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4910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and impact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468112"/>
            <a:ext cx="384048" cy="384048"/>
          </a:xfrm>
          <a:prstGeom prst="rect">
            <a:avLst/>
          </a:prstGeom>
          <a:solidFill>
            <a:srgbClr val="8C1D18"/>
          </a:solidFill>
          <a:ln w="12700">
            <a:solidFill>
              <a:srgbClr val="8C1D1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468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207008" y="5394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07008" y="56967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this, why now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1463040"/>
            <a:ext cx="4617720" cy="4023360"/>
          </a:xfrm>
          <a:prstGeom prst="roundRect">
            <a:avLst>
              <a:gd name="adj" fmla="val 1364"/>
            </a:avLst>
          </a:prstGeom>
          <a:solidFill>
            <a:srgbClr val="F3F2F1"/>
          </a:solidFill>
          <a:ln w="12700">
            <a:solidFill>
              <a:srgbClr val="E4E1D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0" y="182880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are closing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228600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“Heat mapping in India is</a:t>
            </a:r>
            <a:endParaRPr lang="en-US" sz="2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solved problem.</a:t>
            </a:r>
            <a:endParaRPr lang="en-US" sz="26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26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 action isn’t.”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397764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3 to 8 follow one line of argument: the risk is hyperlocal, the response is not, and the missing piece is the step from a map to a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420624" cy="420624"/>
          </a:xfrm>
          <a:prstGeom prst="rect">
            <a:avLst/>
          </a:prstGeom>
          <a:solidFill>
            <a:srgbClr val="FBE38E"/>
          </a:solidFill>
          <a:ln w="12700">
            <a:solidFill>
              <a:srgbClr val="FBE38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65760"/>
            <a:ext cx="103080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/ Idea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704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17904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heatwave response is citywide and blind, when heat risk is hyperlocal and predictable. A city issues one red-alert threshold for the whole municipality — but inside that city, risk varies block to block. A dense, tin-roofed, tree-poor pocket can run several degrees hotter than a leafy planned area a few kilometres away, and it is usually home to the people least able to cope: outdoor workers, the elderly, those without cooling.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992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46704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is one of India’s fastest-growing climate killers. Ahmedabad’s 2013 Heat Action Plan — South Asia’s first — is credited with averting roughly 1,100+ deaths a year, and worked well enough that the NDMA told 23 heat-prone states to build their own. But even good Heat Action Plans mostly stop at citywide alerts.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572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gaps in existing solutions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919472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heat mapping already works — SEEDS with Microsoft, IIT Mandi’s building-level maps — which proves the mapping problem is solvable. But most of that work stops at the map. It rarely closes the loop into “place the cooling centre here, today.”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0" y="1170432"/>
            <a:ext cx="4983480" cy="2615184"/>
          </a:xfrm>
          <a:prstGeom prst="roundRect">
            <a:avLst>
              <a:gd name="adj" fmla="val 2098"/>
            </a:avLst>
          </a:prstGeom>
          <a:solidFill>
            <a:srgbClr val="F3F2F1"/>
          </a:solidFill>
          <a:ln w="12700">
            <a:solidFill>
              <a:srgbClr val="E4E1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04304" y="184708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1847088"/>
            <a:ext cx="246888" cy="246888"/>
          </a:xfrm>
          <a:prstGeom prst="rect">
            <a:avLst/>
          </a:prstGeom>
          <a:solidFill>
            <a:srgbClr val="FBE3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78624" y="184708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1847088"/>
            <a:ext cx="246888" cy="246888"/>
          </a:xfrm>
          <a:prstGeom prst="rect">
            <a:avLst/>
          </a:prstGeom>
          <a:solidFill>
            <a:srgbClr val="FBE3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52944" y="184708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1847088"/>
            <a:ext cx="246888" cy="246888"/>
          </a:xfrm>
          <a:prstGeom prst="rect">
            <a:avLst/>
          </a:prstGeom>
          <a:solidFill>
            <a:srgbClr val="F5B8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27264" y="184708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0" y="1847088"/>
            <a:ext cx="246888" cy="246888"/>
          </a:xfrm>
          <a:prstGeom prst="rect">
            <a:avLst/>
          </a:prstGeom>
          <a:solidFill>
            <a:srgbClr val="F5B8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01584" y="184708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0" y="1847088"/>
            <a:ext cx="246888" cy="246888"/>
          </a:xfrm>
          <a:prstGeom prst="rect">
            <a:avLst/>
          </a:prstGeom>
          <a:solidFill>
            <a:srgbClr val="FBE3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04304" y="212140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0" y="2121408"/>
            <a:ext cx="246888" cy="246888"/>
          </a:xfrm>
          <a:prstGeom prst="rect">
            <a:avLst/>
          </a:prstGeom>
          <a:solidFill>
            <a:srgbClr val="FBE3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78624" y="212140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0" y="2121408"/>
            <a:ext cx="246888" cy="246888"/>
          </a:xfrm>
          <a:prstGeom prst="rect">
            <a:avLst/>
          </a:prstGeom>
          <a:solidFill>
            <a:srgbClr val="F5B8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52944" y="212140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66960" y="212140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27264" y="212140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41280" y="212140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01584" y="212140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0" y="2121408"/>
            <a:ext cx="246888" cy="246888"/>
          </a:xfrm>
          <a:prstGeom prst="rect">
            <a:avLst/>
          </a:prstGeom>
          <a:solidFill>
            <a:srgbClr val="F5B8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04304" y="239572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18320" y="2395728"/>
            <a:ext cx="246888" cy="246888"/>
          </a:xfrm>
          <a:prstGeom prst="rect">
            <a:avLst/>
          </a:prstGeom>
          <a:solidFill>
            <a:srgbClr val="F5B8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78624" y="239572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92640" y="239572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52944" y="239572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66960" y="2395728"/>
            <a:ext cx="246888" cy="246888"/>
          </a:xfrm>
          <a:prstGeom prst="rect">
            <a:avLst/>
          </a:prstGeom>
          <a:solidFill>
            <a:srgbClr val="8C1D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27264" y="239572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41280" y="2395728"/>
            <a:ext cx="246888" cy="246888"/>
          </a:xfrm>
          <a:prstGeom prst="rect">
            <a:avLst/>
          </a:prstGeom>
          <a:solidFill>
            <a:srgbClr val="D146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01584" y="239572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15600" y="2395728"/>
            <a:ext cx="246888" cy="246888"/>
          </a:xfrm>
          <a:prstGeom prst="rect">
            <a:avLst/>
          </a:prstGeom>
          <a:solidFill>
            <a:srgbClr val="F5B8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04304" y="267004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18320" y="2670048"/>
            <a:ext cx="246888" cy="246888"/>
          </a:xfrm>
          <a:prstGeom prst="rect">
            <a:avLst/>
          </a:prstGeom>
          <a:solidFill>
            <a:srgbClr val="F5B8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78624" y="267004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92640" y="2670048"/>
            <a:ext cx="246888" cy="246888"/>
          </a:xfrm>
          <a:prstGeom prst="rect">
            <a:avLst/>
          </a:prstGeom>
          <a:solidFill>
            <a:srgbClr val="D146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52944" y="267004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66960" y="2670048"/>
            <a:ext cx="246888" cy="246888"/>
          </a:xfrm>
          <a:prstGeom prst="rect">
            <a:avLst/>
          </a:prstGeom>
          <a:solidFill>
            <a:srgbClr val="8C1D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27264" y="267004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41280" y="2670048"/>
            <a:ext cx="246888" cy="246888"/>
          </a:xfrm>
          <a:prstGeom prst="rect">
            <a:avLst/>
          </a:prstGeom>
          <a:solidFill>
            <a:srgbClr val="D146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01584" y="267004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15600" y="267004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04304" y="294436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418320" y="2944368"/>
            <a:ext cx="246888" cy="246888"/>
          </a:xfrm>
          <a:prstGeom prst="rect">
            <a:avLst/>
          </a:prstGeom>
          <a:solidFill>
            <a:srgbClr val="FBE3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78624" y="294436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92640" y="2944368"/>
            <a:ext cx="246888" cy="246888"/>
          </a:xfrm>
          <a:prstGeom prst="rect">
            <a:avLst/>
          </a:prstGeom>
          <a:solidFill>
            <a:srgbClr val="F5B8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52944" y="294436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966960" y="294436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27264" y="294436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241280" y="2944368"/>
            <a:ext cx="246888" cy="246888"/>
          </a:xfrm>
          <a:prstGeom prst="rect">
            <a:avLst/>
          </a:prstGeom>
          <a:solidFill>
            <a:srgbClr val="F5B8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01584" y="2944368"/>
            <a:ext cx="246888" cy="246888"/>
          </a:xfrm>
          <a:prstGeom prst="rect">
            <a:avLst/>
          </a:prstGeom>
          <a:solidFill>
            <a:srgbClr val="E88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515600" y="2944368"/>
            <a:ext cx="246888" cy="246888"/>
          </a:xfrm>
          <a:prstGeom prst="rect">
            <a:avLst/>
          </a:prstGeom>
          <a:solidFill>
            <a:srgbClr val="F5B8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949440" y="1517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alert, whole city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9363456" y="1517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happening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8394192" y="2395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903720" y="325526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city, same hour. The alert is uniform; the risk is not — and the hottest pockets hold the people least able to cope.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583680" y="3968496"/>
            <a:ext cx="4983480" cy="1783080"/>
          </a:xfrm>
          <a:prstGeom prst="roundRect">
            <a:avLst>
              <a:gd name="adj" fmla="val 3077"/>
            </a:avLst>
          </a:prstGeom>
          <a:solidFill>
            <a:srgbClr val="8C1D18"/>
          </a:solidFill>
          <a:ln w="12700">
            <a:solidFill>
              <a:srgbClr val="8C1D1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903720" y="42428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idea, in one line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6903720" y="457200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HeatShield turns a citywide heatwave alert into a ward-level action plan — mapping who is at risk, forecasting it forward, and recommending exactly where to send relief.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420624" cy="420624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65760"/>
            <a:ext cx="103080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704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goals — one chain, four links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2377440" cy="2103120"/>
          </a:xfrm>
          <a:prstGeom prst="roundRect">
            <a:avLst>
              <a:gd name="adj" fmla="val 2609"/>
            </a:avLst>
          </a:prstGeom>
          <a:solidFill>
            <a:srgbClr val="F3F2F1"/>
          </a:solidFill>
          <a:ln w="12700">
            <a:solidFill>
              <a:srgbClr val="E4E1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901952"/>
            <a:ext cx="384048" cy="384048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41401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798064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vulnerability at grid and ward level — not one number for the whole city.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2679192"/>
            <a:ext cx="284378" cy="0"/>
          </a:xfrm>
          <a:prstGeom prst="line">
            <a:avLst/>
          </a:prstGeom>
          <a:noFill/>
          <a:ln w="19050">
            <a:solidFill>
              <a:srgbClr val="8E837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84778" y="1627632"/>
            <a:ext cx="2377440" cy="2103120"/>
          </a:xfrm>
          <a:prstGeom prst="roundRect">
            <a:avLst>
              <a:gd name="adj" fmla="val 2609"/>
            </a:avLst>
          </a:prstGeom>
          <a:solidFill>
            <a:srgbClr val="F3F2F1"/>
          </a:solidFill>
          <a:ln w="12700">
            <a:solidFill>
              <a:srgbClr val="E4E1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0810" y="1901952"/>
            <a:ext cx="384048" cy="384048"/>
          </a:xfrm>
          <a:prstGeom prst="rect">
            <a:avLst/>
          </a:prstGeom>
          <a:solidFill>
            <a:srgbClr val="E8823C"/>
          </a:solidFill>
          <a:ln w="12700">
            <a:solidFill>
              <a:srgbClr val="E882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4081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40810" y="241401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740810" y="2798064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that risk 24–72 hours forward on live weather, so it updates daily instead of sitting frozen.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53658" y="2679192"/>
            <a:ext cx="284378" cy="0"/>
          </a:xfrm>
          <a:prstGeom prst="line">
            <a:avLst/>
          </a:prstGeom>
          <a:noFill/>
          <a:ln w="19050">
            <a:solidFill>
              <a:srgbClr val="8E837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29477" y="1627632"/>
            <a:ext cx="2377440" cy="2103120"/>
          </a:xfrm>
          <a:prstGeom prst="roundRect">
            <a:avLst>
              <a:gd name="adj" fmla="val 2609"/>
            </a:avLst>
          </a:prstGeom>
          <a:solidFill>
            <a:srgbClr val="F3F2F1"/>
          </a:solidFill>
          <a:ln w="12700">
            <a:solidFill>
              <a:srgbClr val="E4E1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5509" y="1901952"/>
            <a:ext cx="384048" cy="384048"/>
          </a:xfrm>
          <a:prstGeom prst="rect">
            <a:avLst/>
          </a:prstGeom>
          <a:solidFill>
            <a:srgbClr val="D1462F"/>
          </a:solidFill>
          <a:ln w="12700">
            <a:solidFill>
              <a:srgbClr val="D146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5509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85509" y="241401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585509" y="2798064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where cooling relief should go, so the resources a city already has protect the most people.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798357" y="2679192"/>
            <a:ext cx="284378" cy="0"/>
          </a:xfrm>
          <a:prstGeom prst="line">
            <a:avLst/>
          </a:prstGeom>
          <a:noFill/>
          <a:ln w="19050">
            <a:solidFill>
              <a:srgbClr val="8E837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74175" y="1627632"/>
            <a:ext cx="2377440" cy="2103120"/>
          </a:xfrm>
          <a:prstGeom prst="roundRect">
            <a:avLst>
              <a:gd name="adj" fmla="val 2609"/>
            </a:avLst>
          </a:prstGeom>
          <a:solidFill>
            <a:srgbClr val="F3F2F1"/>
          </a:solidFill>
          <a:ln w="12700">
            <a:solidFill>
              <a:srgbClr val="E4E1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30207" y="1901952"/>
            <a:ext cx="384048" cy="384048"/>
          </a:xfrm>
          <a:prstGeom prst="rect">
            <a:avLst/>
          </a:prstGeom>
          <a:solidFill>
            <a:srgbClr val="8C1D18"/>
          </a:solidFill>
          <a:ln w="12700">
            <a:solidFill>
              <a:srgbClr val="8C1D1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30207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430207" y="241401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Advise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9430207" y="2798064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ward-level advisories a municipal officer can act on directly.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986784"/>
            <a:ext cx="5358384" cy="1755648"/>
          </a:xfrm>
          <a:prstGeom prst="roundRect">
            <a:avLst>
              <a:gd name="adj" fmla="val 3125"/>
            </a:avLst>
          </a:prstGeom>
          <a:solidFill>
            <a:srgbClr val="F3F2F1"/>
          </a:solidFill>
          <a:ln w="12700">
            <a:solidFill>
              <a:srgbClr val="E4E1D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688" y="42428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" y="45902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Better-targeted relief without needing more resources — the same number of cooling centres and water points protecting more people, because they sit where risk actually concentrates. And a faster, more specific municipal response than a citywide alert allows.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90488" y="3986784"/>
            <a:ext cx="5358384" cy="1755648"/>
          </a:xfrm>
          <a:prstGeom prst="roundRect">
            <a:avLst>
              <a:gd name="adj" fmla="val 3125"/>
            </a:avLst>
          </a:prstGeom>
          <a:solidFill>
            <a:srgbClr val="F3F2F1"/>
          </a:solidFill>
          <a:ln w="12700">
            <a:solidFill>
              <a:srgbClr val="E4E1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83096" y="42428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beneficiaries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601968" y="4590288"/>
            <a:ext cx="4636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disaster management cells and city health departments — the direct users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poor, outdoor workers and elderly residents — the people hardest to reach through generic alerts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420624" cy="420624"/>
          </a:xfrm>
          <a:prstGeom prst="rect">
            <a:avLst/>
          </a:prstGeom>
          <a:solidFill>
            <a:srgbClr val="E8823C"/>
          </a:solidFill>
          <a:ln w="12700">
            <a:solidFill>
              <a:srgbClr val="E882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65760"/>
            <a:ext cx="103080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/ Architecture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155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651760" cy="1170432"/>
          </a:xfrm>
          <a:prstGeom prst="roundRect">
            <a:avLst>
              <a:gd name="adj" fmla="val 3906"/>
            </a:avLst>
          </a:prstGeom>
          <a:solidFill>
            <a:srgbClr val="FDF3D6"/>
          </a:solidFill>
          <a:ln w="12700">
            <a:solidFill>
              <a:srgbClr val="F0DDA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50876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vulnerability layer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1755648"/>
            <a:ext cx="23957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land-surface temperature, tree cover, building density, census vulnerability. Precomputed once per city.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852928"/>
            <a:ext cx="2651760" cy="1170432"/>
          </a:xfrm>
          <a:prstGeom prst="roundRect">
            <a:avLst>
              <a:gd name="adj" fmla="val 3906"/>
            </a:avLst>
          </a:prstGeom>
          <a:solidFill>
            <a:srgbClr val="FDF3D6"/>
          </a:solidFill>
          <a:ln w="12700">
            <a:solidFill>
              <a:srgbClr val="F0D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294436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forecast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3191256"/>
            <a:ext cx="23957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24–72 h temperature and humidity, refreshed daily.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1155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77640" y="1737360"/>
            <a:ext cx="2743200" cy="2286000"/>
          </a:xfrm>
          <a:prstGeom prst="roundRect">
            <a:avLst>
              <a:gd name="adj" fmla="val 2000"/>
            </a:avLst>
          </a:prstGeom>
          <a:solidFill>
            <a:srgbClr val="8C1D18"/>
          </a:solidFill>
          <a:ln w="12700">
            <a:solidFill>
              <a:srgbClr val="8C1D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05656" y="182880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risk score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105656" y="2075688"/>
            <a:ext cx="2487168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F2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the static layer with today’s forecast into a grid-level heat-risk surface that updates daily — not a frozen historical atlas.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2002536"/>
            <a:ext cx="658368" cy="777240"/>
          </a:xfrm>
          <a:prstGeom prst="line">
            <a:avLst/>
          </a:prstGeom>
          <a:noFill/>
          <a:ln w="19050">
            <a:solidFill>
              <a:srgbClr val="8E837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3291840" y="2798064"/>
            <a:ext cx="658368" cy="640080"/>
          </a:xfrm>
          <a:prstGeom prst="line">
            <a:avLst/>
          </a:prstGeom>
          <a:noFill/>
          <a:ln w="19050">
            <a:solidFill>
              <a:srgbClr val="8E837C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7772400" y="111556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layer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1371600"/>
            <a:ext cx="3794760" cy="859536"/>
          </a:xfrm>
          <a:prstGeom prst="roundRect">
            <a:avLst>
              <a:gd name="adj" fmla="val 5319"/>
            </a:avLst>
          </a:prstGeom>
          <a:solidFill>
            <a:srgbClr val="FDE7DA"/>
          </a:solidFill>
          <a:ln w="12700">
            <a:solidFill>
              <a:srgbClr val="F5C9A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0416" y="1463040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900416" y="1709928"/>
            <a:ext cx="3538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risk surface; drill into any cell or ward for its vulnerability breakdown.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flipV="1">
            <a:off x="6812280" y="1801368"/>
            <a:ext cx="868680" cy="1078992"/>
          </a:xfrm>
          <a:prstGeom prst="line">
            <a:avLst/>
          </a:prstGeom>
          <a:noFill/>
          <a:ln w="19050">
            <a:solidFill>
              <a:srgbClr val="8E837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72400" y="2432304"/>
            <a:ext cx="3794760" cy="859536"/>
          </a:xfrm>
          <a:prstGeom prst="roundRect">
            <a:avLst>
              <a:gd name="adj" fmla="val 5319"/>
            </a:avLst>
          </a:prstGeom>
          <a:solidFill>
            <a:srgbClr val="FADFD8"/>
          </a:solidFill>
          <a:ln w="12700">
            <a:solidFill>
              <a:srgbClr val="EFB6A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00416" y="252374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Siting optimizer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900416" y="2770632"/>
            <a:ext cx="3538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surface against existing hospitals and water points, then recommends where new relief should go.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 flipV="1">
            <a:off x="6812280" y="2862072"/>
            <a:ext cx="868680" cy="18288"/>
          </a:xfrm>
          <a:prstGeom prst="line">
            <a:avLst/>
          </a:prstGeom>
          <a:noFill/>
          <a:ln w="19050">
            <a:solidFill>
              <a:srgbClr val="8E837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72400" y="3493008"/>
            <a:ext cx="3794760" cy="859536"/>
          </a:xfrm>
          <a:prstGeom prst="roundRect">
            <a:avLst>
              <a:gd name="adj" fmla="val 5319"/>
            </a:avLst>
          </a:prstGeom>
          <a:solidFill>
            <a:srgbClr val="F7D8D5"/>
          </a:solidFill>
          <a:ln w="12700">
            <a:solidFill>
              <a:srgbClr val="E7A8A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00416" y="3584448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generator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900416" y="3831336"/>
            <a:ext cx="3538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turns a ward’s risk data into a short, plain-language advisory an officer can send.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12280" y="2880360"/>
            <a:ext cx="868680" cy="1042416"/>
          </a:xfrm>
          <a:prstGeom prst="line">
            <a:avLst/>
          </a:prstGeom>
          <a:noFill/>
          <a:ln w="19050">
            <a:solidFill>
              <a:srgbClr val="8E837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0080" y="4480560"/>
            <a:ext cx="10911535" cy="0"/>
          </a:xfrm>
          <a:prstGeom prst="line">
            <a:avLst/>
          </a:prstGeom>
          <a:noFill/>
          <a:ln w="12700">
            <a:solidFill>
              <a:srgbClr val="E4E1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6634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992624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TypeScript frontend  ·  MapLibre GL for the interactive map  ·  Neon (Postgres) for storage  ·  hand-written coverage-optimisation algorithm  ·  Gemini API for advisory text  ·  deployed on Vercel.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46634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and feasibility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4992624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city-agnostic. The same pipeline runs for any Indian city once its static vulnerability layer is precomputed — built to extend city by city, not rebuilt per city.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420624" cy="420624"/>
          </a:xfrm>
          <a:prstGeom prst="rect">
            <a:avLst/>
          </a:prstGeom>
          <a:solidFill>
            <a:srgbClr val="D1462F"/>
          </a:solidFill>
          <a:ln w="12700">
            <a:solidFill>
              <a:srgbClr val="D146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65760"/>
            <a:ext cx="103080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Features / Innovation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11535" cy="1371600"/>
          </a:xfrm>
          <a:prstGeom prst="roundRect">
            <a:avLst>
              <a:gd name="adj" fmla="val 4000"/>
            </a:avLst>
          </a:prstGeom>
          <a:solidFill>
            <a:srgbClr val="8C1D18"/>
          </a:solidFill>
          <a:ln w="12700">
            <a:solidFill>
              <a:srgbClr val="8C1D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differentiator is the action layer, not the map.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74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F2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heat mapping already exists in India — SEEDS with Microsoft, IIT Mandi. HeatShield’s contribution is closing the loop from risk map to resource placement: a siting optimizer most comparable projects do not attempt.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3538728" cy="2514600"/>
          </a:xfrm>
          <a:prstGeom prst="roundRect">
            <a:avLst>
              <a:gd name="adj" fmla="val 2182"/>
            </a:avLst>
          </a:prstGeom>
          <a:solidFill>
            <a:srgbClr val="F3F2F1"/>
          </a:solidFill>
          <a:ln w="12700">
            <a:solidFill>
              <a:srgbClr val="E4E1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3172968"/>
            <a:ext cx="310896" cy="310896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3611880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not static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4224528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surface moves with the daily forecast instead of being a fixed historical vulnerability atlas. It answers “where is it dangerous today,” not just “where is it historically hot.”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62856" y="2880360"/>
            <a:ext cx="3538728" cy="2514600"/>
          </a:xfrm>
          <a:prstGeom prst="roundRect">
            <a:avLst>
              <a:gd name="adj" fmla="val 2182"/>
            </a:avLst>
          </a:prstGeom>
          <a:solidFill>
            <a:srgbClr val="F3F2F1"/>
          </a:solidFill>
          <a:ln w="12700">
            <a:solidFill>
              <a:srgbClr val="E4E1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55464" y="3172968"/>
            <a:ext cx="310896" cy="310896"/>
          </a:xfrm>
          <a:prstGeom prst="rect">
            <a:avLst/>
          </a:prstGeom>
          <a:solidFill>
            <a:srgbClr val="E8823C"/>
          </a:solidFill>
          <a:ln w="12700">
            <a:solidFill>
              <a:srgbClr val="E882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55464" y="3611880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last mile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55464" y="4224528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ward-level advisories mean the output is something a municipal officer can act on directly — not one more dashboard for analysts.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85632" y="2880360"/>
            <a:ext cx="3538728" cy="2514600"/>
          </a:xfrm>
          <a:prstGeom prst="roundRect">
            <a:avLst>
              <a:gd name="adj" fmla="val 2182"/>
            </a:avLst>
          </a:prstGeom>
          <a:solidFill>
            <a:srgbClr val="F3F2F1"/>
          </a:solidFill>
          <a:ln w="12700">
            <a:solidFill>
              <a:srgbClr val="E4E1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3172968"/>
            <a:ext cx="310896" cy="310896"/>
          </a:xfrm>
          <a:prstGeom prst="rect">
            <a:avLst/>
          </a:prstGeom>
          <a:solidFill>
            <a:srgbClr val="D1462F"/>
          </a:solidFill>
          <a:ln w="12700">
            <a:solidFill>
              <a:srgbClr val="D146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0" y="3611880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Optimisation, not just visualisation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4224528"/>
            <a:ext cx="29535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coverage-maximising algorithm turns the map into a ranked list of placements, with the population gain each one buys made explicit.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420624" cy="420624"/>
          </a:xfrm>
          <a:prstGeom prst="rect">
            <a:avLst/>
          </a:prstGeom>
          <a:solidFill>
            <a:srgbClr val="8C1D18"/>
          </a:solidFill>
          <a:ln w="12700">
            <a:solidFill>
              <a:srgbClr val="8C1D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65760"/>
            <a:ext cx="103080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7043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36192"/>
            <a:ext cx="5532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web dashboard with a live, interactive ward-level heat-risk map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siting-recommendation tool showing coverage gained against current facility placement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advisory text for any selected ward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2724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impact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7472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demonstrable prototype for one Indian city showing measurably better relief placement than the status quo — a concrete “current placement protects X people, recommended placement protects Y” comparison, computed live.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59028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impact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9377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municipalities could adopt city by city, to make Heat Action Plans hyperlocal and actionable rather than citywide and generic.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1170432"/>
            <a:ext cx="4709160" cy="2761488"/>
          </a:xfrm>
          <a:prstGeom prst="roundRect">
            <a:avLst>
              <a:gd name="adj" fmla="val 1987"/>
            </a:avLst>
          </a:prstGeom>
          <a:solidFill>
            <a:srgbClr val="F3F2F1"/>
          </a:solidFill>
          <a:ln w="12700">
            <a:solidFill>
              <a:srgbClr val="E4E1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78040" y="144475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the demo produces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7830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the at-risk population, before and after the optimizer’s recommended placements: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23957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placement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78040" y="2651760"/>
            <a:ext cx="4069080" cy="274320"/>
          </a:xfrm>
          <a:prstGeom prst="rect">
            <a:avLst/>
          </a:prstGeom>
          <a:solidFill>
            <a:srgbClr val="E8E5E2"/>
          </a:solidFill>
          <a:ln w="12700">
            <a:solidFill>
              <a:srgbClr val="E8E5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2651760"/>
            <a:ext cx="1302106" cy="274320"/>
          </a:xfrm>
          <a:prstGeom prst="rect">
            <a:avLst/>
          </a:prstGeom>
          <a:solidFill>
            <a:srgbClr val="9C938C"/>
          </a:solidFill>
          <a:ln w="12700">
            <a:solidFill>
              <a:srgbClr val="9C93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303580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recommended placements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78040" y="3291840"/>
            <a:ext cx="4069080" cy="274320"/>
          </a:xfrm>
          <a:prstGeom prst="rect">
            <a:avLst/>
          </a:prstGeom>
          <a:solidFill>
            <a:srgbClr val="E8E5E2"/>
          </a:solidFill>
          <a:ln w="12700">
            <a:solidFill>
              <a:srgbClr val="E8E5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3291840"/>
            <a:ext cx="2929738" cy="274320"/>
          </a:xfrm>
          <a:prstGeom prst="rect">
            <a:avLst/>
          </a:prstGeom>
          <a:solidFill>
            <a:srgbClr val="D1462F"/>
          </a:solidFill>
          <a:ln w="12700">
            <a:solidFill>
              <a:srgbClr val="D146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360273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93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the live figure is computed per city and per day, not fixed.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0" y="3977640"/>
            <a:ext cx="4709160" cy="1783080"/>
          </a:xfrm>
          <a:prstGeom prst="roundRect">
            <a:avLst>
              <a:gd name="adj" fmla="val 3077"/>
            </a:avLst>
          </a:prstGeom>
          <a:solidFill>
            <a:srgbClr val="F3F2F1"/>
          </a:solidFill>
          <a:ln w="12700">
            <a:solidFill>
              <a:srgbClr val="E4E1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8040" y="422452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to scale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96912" y="455371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cities, by precomputing their vulnerability layers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heat — flooding, air quality — on the same map → forecast → optimise → advise pattern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420624" cy="420624"/>
          </a:xfrm>
          <a:prstGeom prst="rect">
            <a:avLst/>
          </a:prstGeom>
          <a:solidFill>
            <a:srgbClr val="8C1D18"/>
          </a:solidFill>
          <a:ln w="12700">
            <a:solidFill>
              <a:srgbClr val="8C1D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65760"/>
            <a:ext cx="103080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31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 mapping in India is a solved problem.</a:t>
            </a:r>
            <a:endParaRPr lang="en-US" sz="31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31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 action isn’t.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46704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HeatShield takes proven hyperlocal risk-mapping and closes the gap the existing tools leave open — turning a citywide alert into a live, ward-level plan for exactly where to send relief.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7083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should be selected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718304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novel for novelty’s sake — it builds on India’s own Ahmedabad Heat Action Plan legacy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targets a documented life-and-death gap, not a hypothetical one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as a working, demoable system — not a single model or a static dashboard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138160" y="1371600"/>
            <a:ext cx="3429000" cy="658368"/>
          </a:xfrm>
          <a:prstGeom prst="rect">
            <a:avLst/>
          </a:prstGeom>
          <a:solidFill>
            <a:srgbClr val="FBE38E"/>
          </a:solidFill>
          <a:ln w="12700">
            <a:solidFill>
              <a:srgbClr val="FBE3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084832"/>
            <a:ext cx="3429000" cy="658368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798064"/>
            <a:ext cx="3429000" cy="658368"/>
          </a:xfrm>
          <a:prstGeom prst="rect">
            <a:avLst/>
          </a:prstGeom>
          <a:solidFill>
            <a:srgbClr val="E8823C"/>
          </a:solidFill>
          <a:ln w="12700">
            <a:solidFill>
              <a:srgbClr val="E882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3511296"/>
            <a:ext cx="3429000" cy="658368"/>
          </a:xfrm>
          <a:prstGeom prst="rect">
            <a:avLst/>
          </a:prstGeom>
          <a:solidFill>
            <a:srgbClr val="D1462F"/>
          </a:solidFill>
          <a:ln w="12700">
            <a:solidFill>
              <a:srgbClr val="D146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4224528"/>
            <a:ext cx="3429000" cy="658368"/>
          </a:xfrm>
          <a:prstGeom prst="rect">
            <a:avLst/>
          </a:prstGeom>
          <a:solidFill>
            <a:srgbClr val="8C1D18"/>
          </a:solidFill>
          <a:ln w="12700">
            <a:solidFill>
              <a:srgbClr val="8C1D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5074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1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HeatShield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54681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heatwave alerts to hyperlocal action.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HeatShield — PCCOE IGC 2026</dc:title>
  <dc:subject>PptxGenJS Presentation</dc:subject>
  <dc:creator>Team HeatShield</dc:creator>
  <cp:lastModifiedBy>Team HeatShield</cp:lastModifiedBy>
  <cp:revision>1</cp:revision>
  <dcterms:created xsi:type="dcterms:W3CDTF">2026-09-07T16:06:35Z</dcterms:created>
  <dcterms:modified xsi:type="dcterms:W3CDTF">2026-09-07T16:06:35Z</dcterms:modified>
</cp:coreProperties>
</file>